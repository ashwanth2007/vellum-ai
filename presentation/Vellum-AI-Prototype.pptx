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0" r:id="rId2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051560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Vellum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5156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0" i="0">
                <a:solidFill>
                  <a:srgbClr val="DDE3EE"/>
                </a:solidFill>
                <a:latin typeface="Calibri"/>
              </a:rPr>
              <a:t>Multi-modal AI document verification and credential forensic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B8C1CF"/>
                </a:solidFill>
                <a:latin typeface="Calibri"/>
              </a:rPr>
              <a:t>BCSE306L Artificial Intelligence  |  Course project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B8C1CF"/>
                </a:solidFill>
                <a:latin typeface="Calibri"/>
              </a:rPr>
              <a:t>VIT Vellore  |  Fall Semester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Institutions receive thousands of uploaded documents and check each one by hand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43891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What happens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4846320" cy="3474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Students upload certificates, grade sheets and letters as photos or PDFs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Many uploads are the wrong file: a selfie, an invoice, a random screenshot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Staff open each file to check what it is and copy the name, register number and CGPA by hand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Slow, error prone, and it does not scale at admission or placement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394960" cy="43891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1E7A4F"/>
                </a:solidFill>
                <a:latin typeface="Cambria"/>
              </a:rPr>
              <a:t>What Vellum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06040"/>
            <a:ext cx="4846320" cy="3474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B2433"/>
                </a:solidFill>
                <a:latin typeface="Calibri"/>
              </a:rPr>
              <a:t>1. Accepts anything:  </a:t>
            </a:r>
            <a:r>
              <a:rPr sz="1600">
                <a:solidFill>
                  <a:srgbClr val="1B2433"/>
                </a:solidFill>
                <a:latin typeface="Calibri"/>
              </a:rPr>
              <a:t>any image format or a multi-page PDF, and rejects unsupported files with a clear message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B2433"/>
                </a:solidFill>
                <a:latin typeface="Calibri"/>
              </a:rPr>
              <a:t>2. Decides what it is:  </a:t>
            </a:r>
            <a:r>
              <a:rPr sz="1600">
                <a:solidFill>
                  <a:srgbClr val="1B2433"/>
                </a:solidFill>
                <a:latin typeface="Calibri"/>
              </a:rPr>
              <a:t>certificate, academic record, unrelated document, or not a document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B2433"/>
                </a:solidFill>
                <a:latin typeface="Calibri"/>
              </a:rPr>
              <a:t>3. Reads it:  </a:t>
            </a:r>
            <a:r>
              <a:rPr sz="1600">
                <a:solidFill>
                  <a:srgbClr val="1B2433"/>
                </a:solidFill>
                <a:latin typeface="Calibri"/>
              </a:rPr>
              <a:t>OCR plus field extraction pulls out name, register number, institution, CGPA, dates and the course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Four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Two are relevant credentials, two are rejected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E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2194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Certificate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219456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Degree, course completion, internship, participation, provisional certificates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1E7A4F"/>
                </a:solidFill>
                <a:latin typeface="Calibri"/>
              </a:rPr>
              <a:t>Relevant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194560"/>
            <a:ext cx="640080" cy="640080"/>
          </a:xfrm>
          <a:prstGeom prst="ellipse">
            <a:avLst/>
          </a:prstGeom>
          <a:solidFill>
            <a:srgbClr val="1E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2194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Academic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219456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Grade sheet, mark sheet, CGPA statement, transcript, completion and bonafide letters, LORs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1E7A4F"/>
                </a:solidFill>
                <a:latin typeface="Calibri"/>
              </a:rPr>
              <a:t>Relevant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2194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Unrelated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94760"/>
            <a:ext cx="219456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A real document that is not a credential: invoice, form, memo, article,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A82B2B"/>
                </a:solidFill>
                <a:latin typeface="Calibri"/>
              </a:rPr>
              <a:t>Rejected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920240"/>
            <a:ext cx="2651760" cy="39319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2194560"/>
            <a:ext cx="640080" cy="640080"/>
          </a:xfrm>
          <a:prstGeom prst="ellipse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17520"/>
            <a:ext cx="2194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Not a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94760"/>
            <a:ext cx="219456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A random photo from the internet: people, animals, scenes,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A82B2B"/>
                </a:solidFill>
                <a:latin typeface="Calibri"/>
              </a:rPr>
              <a:t>Rejected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How the model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One upload goes through five stages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685800" cy="685800"/>
          </a:xfrm>
          <a:prstGeom prst="ellipse">
            <a:avLst/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417320" y="2221992"/>
            <a:ext cx="1188720" cy="274320"/>
          </a:xfrm>
          <a:prstGeom prst="rightArrow">
            <a:avLst/>
          </a:prstGeom>
          <a:solidFill>
            <a:srgbClr val="C9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205740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Magic-byte check. Images decoded with EXIF rotation, PDF pages rendered at 300 DPI</a:t>
            </a:r>
          </a:p>
        </p:txBody>
      </p:sp>
      <p:sp>
        <p:nvSpPr>
          <p:cNvPr id="8" name="Oval 7"/>
          <p:cNvSpPr/>
          <p:nvPr/>
        </p:nvSpPr>
        <p:spPr>
          <a:xfrm>
            <a:off x="2834640" y="2011680"/>
            <a:ext cx="685800" cy="685800"/>
          </a:xfrm>
          <a:prstGeom prst="ellipse">
            <a:avLst/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3320" y="2221992"/>
            <a:ext cx="1188720" cy="274320"/>
          </a:xfrm>
          <a:prstGeom prst="rightArrow">
            <a:avLst/>
          </a:prstGeom>
          <a:solidFill>
            <a:srgbClr val="C9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429000"/>
            <a:ext cx="205740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RapidOCR (PaddleOCR models on ONNX Runtime) reads every text line with its box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2011680"/>
            <a:ext cx="685800" cy="685800"/>
          </a:xfrm>
          <a:prstGeom prst="ellipse">
            <a:avLst/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9320" y="2221992"/>
            <a:ext cx="1188720" cy="274320"/>
          </a:xfrm>
          <a:prstGeom prst="rightArrow">
            <a:avLst/>
          </a:prstGeom>
          <a:solidFill>
            <a:srgbClr val="C9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Three classifiers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29000"/>
            <a:ext cx="205740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Fine-tuned CNN on pixels, zero-shot CLIP on pixels, TF-IDF model on the OCR text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2011680"/>
            <a:ext cx="685800" cy="685800"/>
          </a:xfrm>
          <a:prstGeom prst="ellipse">
            <a:avLst/>
          </a:prstGeom>
          <a:solidFill>
            <a:srgbClr val="A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75320" y="2221992"/>
            <a:ext cx="1188720" cy="274320"/>
          </a:xfrm>
          <a:prstGeom prst="rightArrow">
            <a:avLst/>
          </a:prstGeom>
          <a:solidFill>
            <a:srgbClr val="C9C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92608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429000"/>
            <a:ext cx="205740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Weighted average of the three probability vectors decides the class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0" y="2011680"/>
            <a:ext cx="685800" cy="685800"/>
          </a:xfrm>
          <a:prstGeom prst="ellipse">
            <a:avLst/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92608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Field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429000"/>
            <a:ext cx="205740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For relevant documents only: layout-aware rules pull out the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Stack: PyTorch, torchvision, Hugging Face Transformers, scikit-learn, RapidOCR, PyMuPDF, FastAPI backend, React + Vite + Tailwind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Why three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Each one covers a weakness of the others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92808"/>
            <a:ext cx="237744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Image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92808"/>
            <a:ext cx="48463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EfficientNet-B0, ImageNet pretrained, fine-tuned 12 epochs on our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892808"/>
            <a:ext cx="17373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libri"/>
              </a:rPr>
              <a:t>100.0%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892808"/>
            <a:ext cx="16459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16.7% real scans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237744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CLIP zero-shot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35808"/>
            <a:ext cx="48463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ViT-B/32 trained on 2 billion real image-text pairs, never saw our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35808"/>
            <a:ext cx="17373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libri"/>
              </a:rPr>
              <a:t>87.1%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3035808"/>
            <a:ext cx="16459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100.0% real scans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78808"/>
            <a:ext cx="237744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000" b="1" i="0">
                <a:solidFill>
                  <a:srgbClr val="1B2433"/>
                </a:solidFill>
                <a:latin typeface="Cambria"/>
              </a:rPr>
              <a:t>OCR text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178808"/>
            <a:ext cx="48463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TF-IDF word and character n-grams + logistic regression on the OCR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178808"/>
            <a:ext cx="17373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libri"/>
              </a:rPr>
              <a:t>96.7%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178808"/>
            <a:ext cx="16459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reads the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21808"/>
            <a:ext cx="237744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000" b="1" i="0">
                <a:solidFill>
                  <a:srgbClr val="1E7A4F"/>
                </a:solidFill>
                <a:latin typeface="Cambria"/>
              </a:rPr>
              <a:t>Fused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321808"/>
            <a:ext cx="48463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Weights image 0.45, CLIP 0.45, text 0.1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321808"/>
            <a:ext cx="17373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libri"/>
              </a:rPr>
              <a:t>100.0%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5321808"/>
            <a:ext cx="164592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100.0% real scans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Training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Built for this project, split before augmentation so no copy leaks across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760720" cy="4389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B2433"/>
                </a:solidFill>
                <a:latin typeface="Calibri"/>
              </a:rPr>
              <a:t>Certificates:  </a:t>
            </a:r>
            <a:r>
              <a:rPr sz="1500">
                <a:solidFill>
                  <a:srgbClr val="1B2433"/>
                </a:solidFill>
                <a:latin typeface="Calibri"/>
              </a:rPr>
              <a:t>synthetic degree, completion, internship and participation certificates with varied templates, fonts, seals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B2433"/>
                </a:solidFill>
                <a:latin typeface="Calibri"/>
              </a:rPr>
              <a:t>Academic records:  </a:t>
            </a:r>
            <a:r>
              <a:rPr sz="1500">
                <a:solidFill>
                  <a:srgbClr val="1B2433"/>
                </a:solidFill>
                <a:latin typeface="Calibri"/>
              </a:rPr>
              <a:t>synthetic grade sheets and mark sheets, completion and bonafide letters, 120 rendered LORs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B2433"/>
                </a:solidFill>
                <a:latin typeface="Calibri"/>
              </a:rPr>
              <a:t>Unrelated documents:  </a:t>
            </a:r>
            <a:r>
              <a:rPr sz="1500">
                <a:solidFill>
                  <a:srgbClr val="1B2433"/>
                </a:solidFill>
                <a:latin typeface="Calibri"/>
              </a:rPr>
              <a:t>RVL-CDIP subset (15 document types), FUNSD forms, synthetic invoices, menus, articles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B2433"/>
                </a:solidFill>
                <a:latin typeface="Calibri"/>
              </a:rPr>
              <a:t>Random photos:  </a:t>
            </a:r>
            <a:r>
              <a:rPr sz="1500">
                <a:solidFill>
                  <a:srgbClr val="1B2433"/>
                </a:solidFill>
                <a:latin typeface="Calibri"/>
              </a:rPr>
              <a:t>Flickr30k test photos and Imagenette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B2433"/>
                </a:solidFill>
                <a:latin typeface="Calibri"/>
              </a:rPr>
              <a:t>Augmentation:  </a:t>
            </a:r>
            <a:r>
              <a:rPr sz="1500">
                <a:solidFill>
                  <a:srgbClr val="1B2433"/>
                </a:solidFill>
                <a:latin typeface="Calibri"/>
              </a:rPr>
              <a:t>phone-photo simulation (perspective, desk background, shadow, blur) and photocopy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920240"/>
            <a:ext cx="228600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4000" b="1" i="0">
                <a:solidFill>
                  <a:srgbClr val="1B2433"/>
                </a:solidFill>
                <a:latin typeface="Cambria"/>
              </a:rPr>
              <a:t>1944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920240"/>
            <a:ext cx="228600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0" i="0">
                <a:solidFill>
                  <a:srgbClr val="5B6472"/>
                </a:solidFill>
                <a:latin typeface="Calibri"/>
              </a:rPr>
              <a:t>Train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24612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3337560"/>
            <a:ext cx="228600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4000" b="1" i="0">
                <a:solidFill>
                  <a:srgbClr val="1B2433"/>
                </a:solidFill>
                <a:latin typeface="Cambria"/>
              </a:rPr>
              <a:t>407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337560"/>
            <a:ext cx="228600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0" i="0">
                <a:solidFill>
                  <a:srgbClr val="5B6472"/>
                </a:solidFill>
                <a:latin typeface="Calibri"/>
              </a:rPr>
              <a:t>Validation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66344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754880"/>
            <a:ext cx="228600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4000" b="1" i="0">
                <a:solidFill>
                  <a:srgbClr val="1B2433"/>
                </a:solidFill>
                <a:latin typeface="Cambria"/>
              </a:rPr>
              <a:t>448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754880"/>
            <a:ext cx="228600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0" i="0">
                <a:solidFill>
                  <a:srgbClr val="5B6472"/>
                </a:solidFill>
                <a:latin typeface="Calibri"/>
              </a:rPr>
              <a:t>Test images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Measured on held-out data. The real-world set is only 6 scans and the fusion weights were tuned on these sets, so treat it as a sanity check.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8346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400" b="1" i="0">
                <a:solidFill>
                  <a:srgbClr val="1E7A4F"/>
                </a:solidFill>
                <a:latin typeface="Cambria"/>
              </a:rPr>
              <a:t>100.0%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Calibri"/>
              </a:rPr>
              <a:t>Test split accuracy, 448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690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8346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400" b="1" i="0">
                <a:solidFill>
                  <a:srgbClr val="1E7A4F"/>
                </a:solidFill>
                <a:latin typeface="Cambria"/>
              </a:rPr>
              <a:t>100.0%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Calibri"/>
              </a:rPr>
              <a:t>Real-world scans, 6 genuine diplomas and records</a:t>
            </a:r>
          </a:p>
        </p:txBody>
      </p:sp>
      <p:pic>
        <p:nvPicPr>
          <p:cNvPr id="10" name="Picture 9" descr="document_classifier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667" y="1645920"/>
            <a:ext cx="5743786" cy="484632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Class 1: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A course completion certificate is recognised and its fields are read out</a:t>
            </a:r>
          </a:p>
        </p:txBody>
      </p:sp>
      <p:pic>
        <p:nvPicPr>
          <p:cNvPr id="4" name="Picture 3" descr="crop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85" y="1645920"/>
            <a:ext cx="6475750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Class 2: Academic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A phone photo of a grade sheet: register number, semester, CGPA and course table extracted</a:t>
            </a:r>
          </a:p>
        </p:txBody>
      </p:sp>
      <p:pic>
        <p:nvPicPr>
          <p:cNvPr id="4" name="Picture 3" descr="crop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85" y="1645920"/>
            <a:ext cx="6475750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Class 3: Unrelated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An invoice is a real document, but not a credential, so it is rejected</a:t>
            </a:r>
          </a:p>
        </p:txBody>
      </p:sp>
      <p:pic>
        <p:nvPicPr>
          <p:cNvPr id="4" name="Picture 3" descr="crop_o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85" y="1645920"/>
            <a:ext cx="6475750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Class 4: Not a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A random photo is rejected before any field extraction</a:t>
            </a:r>
          </a:p>
        </p:txBody>
      </p:sp>
      <p:pic>
        <p:nvPicPr>
          <p:cNvPr id="4" name="Picture 3" descr="crop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85" y="1645920"/>
            <a:ext cx="6475750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Real-world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A genuine university diploma the model has never seen, classified correctly</a:t>
            </a:r>
          </a:p>
        </p:txBody>
      </p:sp>
      <p:pic>
        <p:nvPicPr>
          <p:cNvPr id="4" name="Picture 3" descr="crop_real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85" y="1645920"/>
            <a:ext cx="6475750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Multi-page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PDF uploads are rendered page by page and every page is classified</a:t>
            </a:r>
          </a:p>
        </p:txBody>
      </p:sp>
      <p:pic>
        <p:nvPicPr>
          <p:cNvPr id="4" name="Picture 3" descr="crop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85" y="1645920"/>
            <a:ext cx="6475750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Unsupported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Anything that is not an image or a PDF gets a clear error instead of a crash</a:t>
            </a:r>
          </a:p>
        </p:txBody>
      </p:sp>
      <p:pic>
        <p:nvPicPr>
          <p:cNvPr id="4" name="Picture 3" descr="crop_re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256" y="1645920"/>
            <a:ext cx="6881007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Step 1: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Drag in any image or PDF, or pick a file from the demo_samples folder</a:t>
            </a:r>
          </a:p>
        </p:txBody>
      </p:sp>
      <p:pic>
        <p:nvPicPr>
          <p:cNvPr id="4" name="Picture 3" descr="crop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256" y="1645920"/>
            <a:ext cx="6881007" cy="4937760"/>
          </a:xfrm>
          <a:prstGeom prst="rect">
            <a:avLst/>
          </a:prstGeom>
          <a:ln w="9525">
            <a:solidFill>
              <a:srgbClr val="D6D2C8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 i="0">
                <a:solidFill>
                  <a:srgbClr val="1B2433"/>
                </a:solidFill>
                <a:latin typeface="Cambria"/>
              </a:rPr>
              <a:t>Live demo: test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All in demo_samples/, one click each on the upload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01_certificate_course_completion.png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737360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E7A4F"/>
                </a:solidFill>
                <a:latin typeface="Calibri"/>
              </a:rPr>
              <a:t>Certificate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58567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7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02_certificate_degree.pdf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258567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E7A4F"/>
                </a:solidFill>
                <a:latin typeface="Calibri"/>
              </a:rPr>
              <a:t>Certificate (PDF)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9774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4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03_grade_sheet_phone_photo.jpg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779774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E7A4F"/>
                </a:solidFill>
                <a:latin typeface="Calibri"/>
              </a:rPr>
              <a:t>Academic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00981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00981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04_transcript_two_pages.pdf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300981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E7A4F"/>
                </a:solidFill>
                <a:latin typeface="Calibri"/>
              </a:rPr>
              <a:t>Academic record (2 pages)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22188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88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05_other_invoice.png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822188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A82B2B"/>
                </a:solidFill>
                <a:latin typeface="Calibri"/>
              </a:rPr>
              <a:t>Unrelated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395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43395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06_other_scanned_form.jpg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343395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A82B2B"/>
                </a:solidFill>
                <a:latin typeface="Calibri"/>
              </a:rPr>
              <a:t>Unrelated document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64602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64602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07 / 08_random_photo.jpg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864602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A82B2B"/>
                </a:solidFill>
                <a:latin typeface="Calibri"/>
              </a:rPr>
              <a:t>Not a document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85809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85809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09_not_supported.txt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385809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A82B2B"/>
                </a:solidFill>
                <a:latin typeface="Calibri"/>
              </a:rPr>
              <a:t>Rejected: unsupported 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907016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07016"/>
            <a:ext cx="6400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0" i="0">
                <a:solidFill>
                  <a:srgbClr val="1B2433"/>
                </a:solidFill>
                <a:latin typeface="Calibri"/>
              </a:rPr>
              <a:t>real_world/ (6 real scans)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907016"/>
            <a:ext cx="3931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E7A4F"/>
                </a:solidFill>
                <a:latin typeface="Calibri"/>
              </a:rPr>
              <a:t>Certificate / Academic record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5836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DE3EE"/>
                </a:solidFill>
                <a:latin typeface="Calibri"/>
              </a:rPr>
              <a:t>A working end-to-end prototype: upload, classify, extract, show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DE3EE"/>
                </a:solidFill>
                <a:latin typeface="Calibri"/>
              </a:rPr>
              <a:t>Three models fused: fine-tuned CNN, zero-shot CLIP, OCR text classifier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DE3EE"/>
                </a:solidFill>
                <a:latin typeface="Calibri"/>
              </a:rPr>
              <a:t>Handles images, phone photos and multi-page PDFs, rejects everything else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DE3EE"/>
                </a:solidFill>
                <a:latin typeface="Calibri"/>
              </a:rPr>
              <a:t>Every accuracy number on these slides was measured on held-out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828800"/>
            <a:ext cx="3931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2377440"/>
            <a:ext cx="39319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E3EE"/>
                </a:solidFill>
                <a:latin typeface="Calibri"/>
              </a:rPr>
              <a:t>Train on real university documents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E3EE"/>
                </a:solidFill>
                <a:latin typeface="Calibri"/>
              </a:rPr>
              <a:t>Tampering and forgery detection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E3EE"/>
                </a:solidFill>
                <a:latin typeface="Calibri"/>
              </a:rPr>
              <a:t>Cross-document consistency checks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E3EE"/>
                </a:solidFill>
                <a:latin typeface="Calibri"/>
              </a:rPr>
              <a:t>Verification against issuer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 i="1">
                <a:solidFill>
                  <a:srgbClr val="B8C1CF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